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2192" autoAdjust="0"/>
  </p:normalViewPr>
  <p:slideViewPr>
    <p:cSldViewPr snapToGrid="0" snapToObjects="1">
      <p:cViewPr varScale="1">
        <p:scale>
          <a:sx n="138" d="100"/>
          <a:sy n="138" d="100"/>
        </p:scale>
        <p:origin x="1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2303C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22303C"/>
                </a:solidFill>
                <a:latin typeface="Calibri"/>
              </a:rPr>
              <a:t>Employees in each risk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2303C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6602</c:v>
                </c:pt>
                <c:pt idx="1">
                  <c:v>6601</c:v>
                </c:pt>
                <c:pt idx="2">
                  <c:v>6797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79-410F-BB16-80664726D7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303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303C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22303C"/>
                </a:solidFill>
                <a:latin typeface="Calibri"/>
              </a:rPr>
              <a:t>Average by risk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work that is routine (%)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2303C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28.74</c:v>
                </c:pt>
                <c:pt idx="1">
                  <c:v>51.26</c:v>
                </c:pt>
                <c:pt idx="2">
                  <c:v>75.11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6A-4922-BFFB-C8220D80AB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 of tasks automated (%)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2303C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19.559999999999999</c:v>
                </c:pt>
                <c:pt idx="1">
                  <c:v>35.729999999999997</c:v>
                </c:pt>
                <c:pt idx="2">
                  <c:v>55.98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96A-4922-BFFB-C8220D80AB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303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303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303C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22303C"/>
                </a:solidFill>
                <a:latin typeface="Calibri"/>
              </a:rPr>
              <a:t>Share of employees in the High risk group, by industry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risk share (%)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2303C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Manufacturing</c:v>
                </c:pt>
                <c:pt idx="1">
                  <c:v>Retail</c:v>
                </c:pt>
                <c:pt idx="2">
                  <c:v>Logistics</c:v>
                </c:pt>
                <c:pt idx="3">
                  <c:v>Finance</c:v>
                </c:pt>
                <c:pt idx="4">
                  <c:v>Telecom</c:v>
                </c:pt>
                <c:pt idx="5">
                  <c:v>IT</c:v>
                </c:pt>
                <c:pt idx="6">
                  <c:v>Healthcare</c:v>
                </c:pt>
                <c:pt idx="7">
                  <c:v>Education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48.2</c:v>
                </c:pt>
                <c:pt idx="1">
                  <c:v>41.66</c:v>
                </c:pt>
                <c:pt idx="2">
                  <c:v>40.93</c:v>
                </c:pt>
                <c:pt idx="3">
                  <c:v>37.22</c:v>
                </c:pt>
                <c:pt idx="4">
                  <c:v>35.35</c:v>
                </c:pt>
                <c:pt idx="5">
                  <c:v>27.81</c:v>
                </c:pt>
                <c:pt idx="6">
                  <c:v>20.95</c:v>
                </c:pt>
                <c:pt idx="7">
                  <c:v>19.93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C9-49E4-835A-0D576A6FD3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303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t"/>
        <c:majorGridlines>
          <c:spPr>
            <a:ln w="6350" cap="flat">
              <a:solidFill>
                <a:srgbClr val="E3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303C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22303C"/>
                </a:solidFill>
                <a:latin typeface="Calibri"/>
              </a:rPr>
              <a:t>Correct on the final exam (% of 4,000 employees)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Correct (%)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303C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regression</c:v>
                </c:pt>
                <c:pt idx="1">
                  <c:v>Gradient boosting</c:v>
                </c:pt>
                <c:pt idx="2">
                  <c:v>Naive Bayes</c:v>
                </c:pt>
                <c:pt idx="3">
                  <c:v>Random forest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75.025000000000006</c:v>
                </c:pt>
                <c:pt idx="1">
                  <c:v>74.95</c:v>
                </c:pt>
                <c:pt idx="2">
                  <c:v>73.349999999999994</c:v>
                </c:pt>
                <c:pt idx="3">
                  <c:v>72.625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0C-4603-98FB-1CEA8F5820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303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60"/>
        </c:scaling>
        <c:delete val="0"/>
        <c:axPos val="l"/>
        <c:majorGridlines>
          <c:spPr>
            <a:ln w="6350" cap="flat">
              <a:solidFill>
                <a:srgbClr val="E3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303C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22303C"/>
                </a:solidFill>
                <a:latin typeface="Calibri"/>
              </a:rPr>
              <a:t>Score by risk group (out of 100, higher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Logistic</c:v>
                </c:pt>
                <c:pt idx="1">
                  <c:v>Boosting</c:v>
                </c:pt>
                <c:pt idx="2">
                  <c:v>Naive Bayes</c:v>
                </c:pt>
                <c:pt idx="3">
                  <c:v>Forest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81.5</c:v>
                </c:pt>
                <c:pt idx="1">
                  <c:v>81</c:v>
                </c:pt>
                <c:pt idx="2">
                  <c:v>80.7</c:v>
                </c:pt>
                <c:pt idx="3">
                  <c:v>79.3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08-4981-8348-D8F1EA298A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Logistic</c:v>
                </c:pt>
                <c:pt idx="1">
                  <c:v>Boosting</c:v>
                </c:pt>
                <c:pt idx="2">
                  <c:v>Naive Bayes</c:v>
                </c:pt>
                <c:pt idx="3">
                  <c:v>Forest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62.1</c:v>
                </c:pt>
                <c:pt idx="1">
                  <c:v>61.9</c:v>
                </c:pt>
                <c:pt idx="2">
                  <c:v>57.2</c:v>
                </c:pt>
                <c:pt idx="3">
                  <c:v>58.8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08-4981-8348-D8F1EA298A1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Logistic</c:v>
                </c:pt>
                <c:pt idx="1">
                  <c:v>Boosting</c:v>
                </c:pt>
                <c:pt idx="2">
                  <c:v>Naive Bayes</c:v>
                </c:pt>
                <c:pt idx="3">
                  <c:v>Forest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81.2</c:v>
                </c:pt>
                <c:pt idx="1">
                  <c:v>81.5</c:v>
                </c:pt>
                <c:pt idx="2">
                  <c:v>80.400000000000006</c:v>
                </c:pt>
                <c:pt idx="3">
                  <c:v>79.5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08-4981-8348-D8F1EA298A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303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50"/>
        </c:scaling>
        <c:delete val="0"/>
        <c:axPos val="l"/>
        <c:majorGridlines>
          <c:spPr>
            <a:ln w="6350" cap="flat">
              <a:solidFill>
                <a:srgbClr val="E3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303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5533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datasets/shivasingh4945/ai-impact-on-jobs-and-layoff-risk-dataset?resource=download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Layoff Risk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Layoff Risk in the Automation Era: A Four-Model Comparative Analysis Using the AI Impact on Jobs Dataset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AAI-500: Applied Probability and Statistics for AI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 Zendaki and Saman Zarei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8046720" cy="530352"/>
          </a:xfrm>
          <a:prstGeom prst="roundRect">
            <a:avLst>
              <a:gd name="adj" fmla="val 2069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207008"/>
            <a:ext cx="402336" cy="402336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207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14300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and dataset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14300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 and the data we used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73936"/>
            <a:ext cx="8046720" cy="530352"/>
          </a:xfrm>
          <a:prstGeom prst="roundRect">
            <a:avLst>
              <a:gd name="adj" fmla="val 2069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1837944"/>
            <a:ext cx="402336" cy="402336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31520" y="1837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177393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177393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and preparing the data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404872"/>
            <a:ext cx="8046720" cy="530352"/>
          </a:xfrm>
          <a:prstGeom prst="roundRect">
            <a:avLst>
              <a:gd name="adj" fmla="val 2069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468880"/>
            <a:ext cx="402336" cy="402336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31520" y="2468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240487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Patterns in the data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40487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separates Low, Medium, and High risk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035808"/>
            <a:ext cx="8046720" cy="530352"/>
          </a:xfrm>
          <a:prstGeom prst="roundRect">
            <a:avLst>
              <a:gd name="adj" fmla="val 2069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3099816"/>
            <a:ext cx="402336" cy="402336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31520" y="3099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03580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approaches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303580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approaches we tested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666744"/>
            <a:ext cx="8046720" cy="530352"/>
          </a:xfrm>
          <a:prstGeom prst="roundRect">
            <a:avLst>
              <a:gd name="adj" fmla="val 2069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1520" y="3730752"/>
            <a:ext cx="402336" cy="402336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31520" y="3730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366674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approaches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663440" y="366674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each was right and where they struggle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297680"/>
            <a:ext cx="8046720" cy="530352"/>
          </a:xfrm>
          <a:prstGeom prst="roundRect">
            <a:avLst>
              <a:gd name="adj" fmla="val 2069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31520" y="4361688"/>
            <a:ext cx="402336" cy="402336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731520" y="4361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371600" y="429768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recommendations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4663440" y="42976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pick, caveats, and next steps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and business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1051560"/>
          </a:xfrm>
          <a:prstGeom prst="roundRect">
            <a:avLst>
              <a:gd name="adj" fmla="val 10435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18872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 few facts about a job predict an employee's layoff risk: Low, Medium, or High?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1752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automation are changing how work is done. Seeing risk early helps with training, employee support, and workforce planning.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246888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47472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301752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each employee into Low, Medium, or High layoff risk using five facts about their work, and see how well each approach spots High risk.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246888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21792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01752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four prediction approaches on the same data and the same final exam, then compare how often each is right.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280160" cy="1417320"/>
          </a:xfrm>
          <a:prstGeom prst="roundRect">
            <a:avLst>
              <a:gd name="adj" fmla="val 857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20,000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810512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employee records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20240" y="1188720"/>
            <a:ext cx="1280160" cy="1417320"/>
          </a:xfrm>
          <a:prstGeom prst="roundRect">
            <a:avLst>
              <a:gd name="adj" fmla="val 857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920240" y="126187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993392" y="1810512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per record: 15 facts plus a risk label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1280160" cy="1417320"/>
          </a:xfrm>
          <a:prstGeom prst="roundRect">
            <a:avLst>
              <a:gd name="adj" fmla="val 857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291840" y="126187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364992" y="1810512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groups, about one third each</a:t>
            </a:r>
            <a:endParaRPr lang="en-US" sz="10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457200" y="2743200"/>
          <a:ext cx="41148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1188720"/>
            <a:ext cx="3749040" cy="3154680"/>
          </a:xfrm>
          <a:prstGeom prst="roundRect">
            <a:avLst>
              <a:gd name="adj" fmla="val 3478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029200" y="1298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Facts we used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0" y="164592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experience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work that is routine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tasks already automated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AI tools used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0" y="3063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out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0" y="33375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creativity, human interaction, AI usage and training hours, and other details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tooltip="Open the dataset on Kagg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Singh (2026), AI Impact on Jobs and Layoff Risk Dataset, Kaggle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and preparation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874520" cy="1325880"/>
          </a:xfrm>
          <a:prstGeom prst="roundRect">
            <a:avLst>
              <a:gd name="adj" fmla="val 827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20,000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employee records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1188720"/>
            <a:ext cx="1874520" cy="1325880"/>
          </a:xfrm>
          <a:prstGeom prst="roundRect">
            <a:avLst>
              <a:gd name="adj" fmla="val 827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606040" y="126187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or duplicate records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1874520" cy="1325880"/>
          </a:xfrm>
          <a:prstGeom prst="roundRect">
            <a:avLst>
              <a:gd name="adj" fmla="val 827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663440" y="126187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chosen for the analysis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20840" y="1188720"/>
            <a:ext cx="1874520" cy="1325880"/>
          </a:xfrm>
          <a:prstGeom prst="roundRect">
            <a:avLst>
              <a:gd name="adj" fmla="val 827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720840" y="126187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after turning industry into numbers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74320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5800" y="2880360"/>
            <a:ext cx="365760" cy="36576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8580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2880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check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3375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made sense and nothing was missing, so all records were kept.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06040" y="274320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0" y="2880360"/>
            <a:ext cx="365760" cy="36576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274320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0" y="2880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743200" y="33375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names were turned into numbers a computer can use.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274320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00600" y="2880360"/>
            <a:ext cx="365760" cy="36576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80060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257800" y="2880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exam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800600" y="33375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16,000 employees to learn from, 4,000 held back as a final exam, with the same mix of risk groups.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720840" y="274320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858000" y="2880360"/>
            <a:ext cx="365760" cy="36576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85800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0" y="2880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scale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33375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put on a comparable scale, using only the learning data, so the exam stays fair.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separates the risk groups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18872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6035040" y="132588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automation, higher risk</a:t>
            </a:r>
            <a:endParaRPr lang="en-US" sz="1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AI tools used also rises: 1.3, 2.3, then 3.8 on average.</a:t>
            </a:r>
            <a:endParaRPr lang="en-US" sz="1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experience made very little difference.</a:t>
            </a:r>
            <a:endParaRPr lang="en-US" sz="1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work and automated tasks tell almost the same story, so it is hard to separate their effects.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differences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217920" y="1188720"/>
            <a:ext cx="2377440" cy="3383280"/>
          </a:xfrm>
          <a:prstGeom prst="roundRect">
            <a:avLst>
              <a:gd name="adj" fmla="val 4615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621792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48%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22860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Manufacturing employees are High risk, versus 20% in Education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3383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Medium group is about the same size in every industry (31% to 35%)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often each approach was right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035040" y="118872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6217920" y="1325880"/>
            <a:ext cx="2194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3 employees</a:t>
            </a:r>
            <a:endParaRPr lang="en-US" sz="20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4,000 separate the top two. Effectively a tie.</a:t>
            </a:r>
            <a:endParaRPr lang="en-US" sz="20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guessing the most common group would be right 34% of the time.</a:t>
            </a:r>
            <a:endParaRPr lang="en-US" sz="20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starts at 60% to make differences visible.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approaches go wrong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1188720"/>
            <a:ext cx="2834640" cy="338328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943600" y="1325880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 is the hardest group</a:t>
            </a:r>
            <a:endParaRPr lang="en-US" sz="1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mistake is one step off, such as Low versus Medium.</a:t>
            </a:r>
            <a:endParaRPr lang="en-US" sz="1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High risk: gradient boosting catches the most (83.5%) but gives more false alarms. Logistic regression is right 81% of the time when it flags High.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457200" cy="4572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pick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the scorecard. It tied for best accuracy at 75% and is the easiest to explain.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20440" y="150876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5204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5603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boosting, if catching as many High-risk employees as possible is the priority.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63640" y="150876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263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Caveat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5603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two are essentially tied, so we cannot say one is truly better.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facts about a job carry a real signal, but the Medium group stays hard to separate. Results apply to simulated data, not real layoffs.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7724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how it will be used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373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costs more: missing a high-risk employee or raising a false alarm.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89204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more thoroughly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373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testing and fine-tune each approach before trusting small differences.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2971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the Medium group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383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Medium mistakes and find extra information that helps separate them.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83464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892040" y="2971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on real data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383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real layoff outcomes before using it for any workforce decisions.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contributions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931920" cy="2834640"/>
          </a:xfrm>
          <a:prstGeom prst="roundRect">
            <a:avLst>
              <a:gd name="adj" fmla="val 3871"/>
            </a:avLst>
          </a:prstGeom>
          <a:solidFill>
            <a:srgbClr val="263B57"/>
          </a:solidFill>
          <a:ln w="12700">
            <a:solidFill>
              <a:srgbClr val="26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Mustafa Zendaki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naive Bayes model training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model training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234440"/>
            <a:ext cx="3931920" cy="2834640"/>
          </a:xfrm>
          <a:prstGeom prst="roundRect">
            <a:avLst>
              <a:gd name="adj" fmla="val 3871"/>
            </a:avLst>
          </a:prstGeom>
          <a:solidFill>
            <a:srgbClr val="263B57"/>
          </a:solidFill>
          <a:ln w="12700">
            <a:solidFill>
              <a:srgbClr val="26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93776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Saman Zarei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01168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(pattern analysis)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model training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 training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853</Words>
  <Application>Microsoft Macintosh PowerPoint</Application>
  <PresentationFormat>On-screen Show (16:9)</PresentationFormat>
  <Paragraphs>143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Layoff Risk</dc:title>
  <dc:subject>PptxGenJS Presentation</dc:subject>
  <dc:creator>PptxGenJS</dc:creator>
  <cp:lastModifiedBy>Saman Zarei</cp:lastModifiedBy>
  <cp:revision>3</cp:revision>
  <dcterms:created xsi:type="dcterms:W3CDTF">2026-10-17T13:54:30Z</dcterms:created>
  <dcterms:modified xsi:type="dcterms:W3CDTF">2026-10-17T17:40:20Z</dcterms:modified>
</cp:coreProperties>
</file>